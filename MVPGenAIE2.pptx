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5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9B3F5-1FB4-43F8-AE61-9952D91995DA}" v="4" dt="2025-06-17T21:27:05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AF276-553D-B092-ED80-E371D60DE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183D56-6ECC-23D2-45FF-01AD1EF40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B92737-6EF0-5ECF-4A76-74A23B86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813A75-2B53-2748-26AA-7C633E95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0C8CFC-80F3-11D7-9914-0BCCC2BE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959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65A68-8064-9EF6-1D7F-5AC449A1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6E9AD6-48DB-CF3C-900C-FBC074B9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4B5C3-41AF-F238-F2E5-14229B05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378C2-CF69-3369-5A39-B418581C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D2C2B4-564B-8BD0-4735-3D68B5D5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679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624B-73DD-2851-FB98-C4645DF3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5852D3-49E3-F860-D67D-4E80800B1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64FEA-1721-A80C-ED02-48CB2012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9B4A5-C7C5-3818-4975-1DDF6C76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EA3CA6-BBD4-E1F0-609E-0E6B153A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636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64C75-3FF6-53E2-D847-E5A3AE2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18094-CE74-898E-9105-D387C4BBD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5E6C6E-54B3-756A-01A9-6AC19D409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6389D5-FC6C-8D8D-6687-F887BECE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F206DE-A88E-F203-D676-242CC298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56500E-3D97-04D7-2909-57CB215A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895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F24A5-7FF5-5896-EDC3-E3F3E188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ABF813-C13F-DE91-9381-B4CF0CBA9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716F21-2FAF-92B7-0E85-30563AB24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90208D-E27B-A039-F507-C02259EDC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B43921-C8CA-B21A-B58E-CE7441C8D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6DE869-FCCB-64E8-7735-9BD1E6CB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571064-0EDC-225E-E207-FA012CDC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945E62-1D47-EAAB-6B38-D28E8474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596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BCE06-6956-566D-73D3-3B0B08F0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85A1AB-F39A-3979-ABA5-847368CE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37D638-A4AC-AD02-BAA5-2FA23F35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568E91-6AED-8A6F-DB17-CD5F9BE5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489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53C3BC-FAE9-EA1B-3CAA-59D0B5AC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A014EF-7E6B-0B3D-FF17-B934B671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4C315-96AE-79DF-E20D-ECB230F3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79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A3970-B051-0AA2-2039-9727BEB9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C5F642-E464-B782-6D97-537014649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7CB76C-032F-B81B-B8A9-DA64655FE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4A5FA5-34E7-C45D-7412-E93E4AD8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9D0991-FF26-4497-975E-5CA8E69C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6DD8A1-A108-7B24-8087-10B208AB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333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C2FF4-B21B-E2CC-A640-D887585A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1DDAC5-3F80-8F8A-0EB9-29A13929F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57F659-F1C6-1BDA-4DA7-A88DAA0EF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74E0A2-311C-894F-A261-A0AEE529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8126F-0906-D263-6750-84D5F3EB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273FAF-EFEF-B688-0D11-21F52F69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19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FF76E-7495-C259-4E20-7B50B1D5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E69CF0-5566-69F2-0380-DA1BE28C1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373E2-D76B-3FB6-3C3F-262F771F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ECA8E6-AD59-EDD9-A167-1BB49713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2EF8C-649B-338D-66A5-3EB13A4D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271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68AE3B-8C9F-97DF-DCEE-849F52D68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3DD7E7-64AB-EEDC-244B-F3E9BDF4C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3A7434-B9DC-5CD4-583F-1D8663A9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FECDE9-7CB3-2B99-5A39-D980A05C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BDC160-5867-63EC-B692-405E945C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87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49A3EFB-192E-6476-A7BB-ABB35D2C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46A45-42B8-D0A9-62DE-A38D4583F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79E51A-0595-9042-FD2F-5A316BEB4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BA97F-827E-4995-9223-363E7B287481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718072-C7B6-6DE7-6794-9F0660145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611D17-C564-ED5E-E87D-48C999117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CD39-3E5C-4E81-8729-402A9F3AC5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053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D7E4B-FA21-D17F-82FB-1DB29C853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MVP: Sistema Inteligente de Detección de Fraudes con RAG y LLM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92451E-3FE0-4427-C17F-07A238BC2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Juan Rael Corrales Arellano</a:t>
            </a:r>
          </a:p>
          <a:p>
            <a:r>
              <a:rPr lang="es-MX" dirty="0"/>
              <a:t>2389029</a:t>
            </a:r>
          </a:p>
        </p:txBody>
      </p:sp>
    </p:spTree>
    <p:extLst>
      <p:ext uri="{BB962C8B-B14F-4D97-AF65-F5344CB8AC3E}">
        <p14:creationId xmlns:p14="http://schemas.microsoft.com/office/powerpoint/2010/main" val="393390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7126E-6A44-E571-37B5-5DC00F83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 Actuales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436D6-1D0D-B9D0-E022-4347BB156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Reglas Estáticas y Modelos Opacos:</a:t>
            </a:r>
          </a:p>
          <a:p>
            <a:r>
              <a:rPr lang="es-MX" dirty="0"/>
              <a:t>Los sistemas tradicionales de fraude bancario suelen depender de reglas fijas o modelos de machine </a:t>
            </a:r>
            <a:r>
              <a:rPr lang="es-MX" dirty="0" err="1"/>
              <a:t>learning</a:t>
            </a:r>
            <a:r>
              <a:rPr lang="es-MX" dirty="0"/>
              <a:t> que actúan como “cajas negras” difíciles de auditar.</a:t>
            </a:r>
          </a:p>
          <a:p>
            <a:pPr marL="0" indent="0">
              <a:buNone/>
            </a:pPr>
            <a:r>
              <a:rPr lang="es-MX" dirty="0"/>
              <a:t>Falta de </a:t>
            </a:r>
            <a:r>
              <a:rPr lang="es-MX" dirty="0" err="1"/>
              <a:t>Explicabilidad</a:t>
            </a:r>
            <a:r>
              <a:rPr lang="es-MX" dirty="0"/>
              <a:t>:</a:t>
            </a:r>
          </a:p>
          <a:p>
            <a:r>
              <a:rPr lang="es-MX" dirty="0"/>
              <a:t>La mayoría de los sistemas no explican por qué una transacción fue marcada como sospechosa, complicando la revisión y la toma de decisiones humanas.</a:t>
            </a:r>
          </a:p>
          <a:p>
            <a:pPr marL="0" indent="0">
              <a:buNone/>
            </a:pPr>
            <a:r>
              <a:rPr lang="es-MX" dirty="0"/>
              <a:t>Escenarios Complejos:</a:t>
            </a:r>
          </a:p>
          <a:p>
            <a:r>
              <a:rPr lang="es-MX" dirty="0"/>
              <a:t>El fraude evoluciona rápidamente. Muchos casos requieren análisis contextual y explicaciones claras para evitar falsos positivos y entender patrones nuevos.</a:t>
            </a:r>
          </a:p>
        </p:txBody>
      </p:sp>
    </p:spTree>
    <p:extLst>
      <p:ext uri="{BB962C8B-B14F-4D97-AF65-F5344CB8AC3E}">
        <p14:creationId xmlns:p14="http://schemas.microsoft.com/office/powerpoint/2010/main" val="146419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E7AA5-B308-EE71-5FD1-E6820AB3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del MVP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555F41-2A98-F5F0-A621-CE985893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i="1" dirty="0"/>
              <a:t>Construir un sistema capaz de:</a:t>
            </a:r>
            <a:endParaRPr lang="es-MX" dirty="0"/>
          </a:p>
          <a:p>
            <a:r>
              <a:rPr lang="es-MX" b="1" dirty="0"/>
              <a:t>Detectar</a:t>
            </a:r>
            <a:r>
              <a:rPr lang="es-MX" dirty="0"/>
              <a:t> transacciones potencialmente fraudulentas en tiempo real.</a:t>
            </a:r>
          </a:p>
          <a:p>
            <a:r>
              <a:rPr lang="es-MX" b="1" dirty="0"/>
              <a:t>Recuperar</a:t>
            </a:r>
            <a:r>
              <a:rPr lang="es-MX" dirty="0"/>
              <a:t> las reglas de fraude más relevantes mediante </a:t>
            </a:r>
            <a:r>
              <a:rPr lang="es-MX" dirty="0" err="1"/>
              <a:t>embeddings</a:t>
            </a:r>
            <a:r>
              <a:rPr lang="es-MX" dirty="0"/>
              <a:t> y RAG semántico.</a:t>
            </a:r>
          </a:p>
          <a:p>
            <a:r>
              <a:rPr lang="es-MX" b="1" dirty="0"/>
              <a:t>Generar explicaciones</a:t>
            </a:r>
            <a:r>
              <a:rPr lang="es-MX" dirty="0"/>
              <a:t> detalladas y comprensibles en lenguaje natural usando LLM, facilitando el análisis por parte de humanos.</a:t>
            </a:r>
          </a:p>
        </p:txBody>
      </p:sp>
    </p:spTree>
    <p:extLst>
      <p:ext uri="{BB962C8B-B14F-4D97-AF65-F5344CB8AC3E}">
        <p14:creationId xmlns:p14="http://schemas.microsoft.com/office/powerpoint/2010/main" val="416162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416F6-5781-DAA6-3AB9-4C666AC8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Ejemplo de Salida</a:t>
            </a:r>
            <a:endParaRPr lang="es-MX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8FE2CEBD-69C0-EB58-E8BF-F24FC7C76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388" y="3048661"/>
            <a:ext cx="9307224" cy="1905266"/>
          </a:xfrm>
        </p:spPr>
      </p:pic>
    </p:spTree>
    <p:extLst>
      <p:ext uri="{BB962C8B-B14F-4D97-AF65-F5344CB8AC3E}">
        <p14:creationId xmlns:p14="http://schemas.microsoft.com/office/powerpoint/2010/main" val="329266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36BDE-B0E0-D246-BC07-C65CE4968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Valor Agregado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7B862-BD34-90FF-5238-25D9101A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1" dirty="0"/>
              <a:t>Automatización Inteligente:</a:t>
            </a:r>
          </a:p>
          <a:p>
            <a:r>
              <a:rPr lang="es-MX" dirty="0"/>
              <a:t>El sistema identifica anomalías y posibles fraudes sin intervención manual.</a:t>
            </a:r>
          </a:p>
          <a:p>
            <a:pPr marL="0" indent="0">
              <a:buNone/>
            </a:pPr>
            <a:r>
              <a:rPr lang="es-MX" b="1" dirty="0"/>
              <a:t>Explicaciones Comprensibles:</a:t>
            </a:r>
          </a:p>
          <a:p>
            <a:r>
              <a:rPr lang="es-MX" dirty="0"/>
              <a:t>Proporciona razones claras y estructuradas para cada caso sospechoso, ayudando a los analistas y auditores.</a:t>
            </a:r>
          </a:p>
          <a:p>
            <a:pPr marL="0" indent="0">
              <a:buNone/>
            </a:pPr>
            <a:r>
              <a:rPr lang="es-MX" b="1" dirty="0"/>
              <a:t>Arquitectura Modular y Portátil:</a:t>
            </a:r>
          </a:p>
          <a:p>
            <a:r>
              <a:rPr lang="es-MX" dirty="0"/>
              <a:t>Fácil de integrar en APIs, </a:t>
            </a:r>
            <a:r>
              <a:rPr lang="es-MX" dirty="0" err="1"/>
              <a:t>dashboard</a:t>
            </a:r>
            <a:r>
              <a:rPr lang="es-MX" dirty="0"/>
              <a:t> y plataformas de monitoreo existentes.</a:t>
            </a:r>
          </a:p>
          <a:p>
            <a:pPr marL="0" indent="0">
              <a:buNone/>
            </a:pPr>
            <a:r>
              <a:rPr lang="es-MX" b="1" dirty="0"/>
              <a:t>Transparencia y Confianza:</a:t>
            </a:r>
          </a:p>
          <a:p>
            <a:r>
              <a:rPr lang="es-MX" dirty="0"/>
              <a:t>Permite auditar y entender cada decisión, cumpliendo con regulaciones y estándares de banca ética.</a:t>
            </a:r>
          </a:p>
        </p:txBody>
      </p:sp>
    </p:spTree>
    <p:extLst>
      <p:ext uri="{BB962C8B-B14F-4D97-AF65-F5344CB8AC3E}">
        <p14:creationId xmlns:p14="http://schemas.microsoft.com/office/powerpoint/2010/main" val="147815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220C2-1D1F-7D8F-893B-DCD12BBB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Conclusión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812EA-1EE8-2A37-1CB6-5B20D25A5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Este MVP demuestra cómo la combinación de RAG y LLM puede crear sistemas de fraude:</a:t>
            </a:r>
          </a:p>
          <a:p>
            <a:r>
              <a:rPr lang="es-MX" b="1" dirty="0"/>
              <a:t>Inteligentes</a:t>
            </a:r>
            <a:r>
              <a:rPr lang="es-MX" dirty="0"/>
              <a:t>: Capaces de adaptarse a nuevos escenarios y detectar patrones complejos.</a:t>
            </a:r>
          </a:p>
          <a:p>
            <a:r>
              <a:rPr lang="es-MX" b="1" dirty="0"/>
              <a:t>Explicativos</a:t>
            </a:r>
            <a:r>
              <a:rPr lang="es-MX" dirty="0"/>
              <a:t>: Siempre brindan razones y contexto para cada alerta.</a:t>
            </a:r>
          </a:p>
          <a:p>
            <a:r>
              <a:rPr lang="es-MX" b="1" dirty="0"/>
              <a:t>Prácticos y Adaptables</a:t>
            </a:r>
            <a:r>
              <a:rPr lang="es-MX" dirty="0"/>
              <a:t>: Listos para usarse por bancos, </a:t>
            </a:r>
            <a:r>
              <a:rPr lang="es-MX" dirty="0" err="1"/>
              <a:t>fintechs</a:t>
            </a:r>
            <a:r>
              <a:rPr lang="es-MX" dirty="0"/>
              <a:t>, analistas de fraude y auditores.</a:t>
            </a:r>
          </a:p>
          <a:p>
            <a:pPr marL="0" indent="0">
              <a:buNone/>
            </a:pPr>
            <a:r>
              <a:rPr lang="es-MX" dirty="0"/>
              <a:t>La base perfecta para escalar hacia plataformas antifraude de nueva generación.</a:t>
            </a:r>
          </a:p>
        </p:txBody>
      </p:sp>
    </p:spTree>
    <p:extLst>
      <p:ext uri="{BB962C8B-B14F-4D97-AF65-F5344CB8AC3E}">
        <p14:creationId xmlns:p14="http://schemas.microsoft.com/office/powerpoint/2010/main" val="3904726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304</Words>
  <Application>Microsoft Office PowerPoint</Application>
  <PresentationFormat>Panorámica</PresentationFormat>
  <Paragraphs>31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MVP: Sistema Inteligente de Detección de Fraudes con RAG y LLM</vt:lpstr>
      <vt:lpstr>Problema Actuales</vt:lpstr>
      <vt:lpstr>Objetivo del MVP</vt:lpstr>
      <vt:lpstr>Ejemplo de Salida</vt:lpstr>
      <vt:lpstr>Valor Agregado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Rael Corrales</dc:creator>
  <cp:lastModifiedBy>Rael Corrales</cp:lastModifiedBy>
  <cp:revision>2</cp:revision>
  <dcterms:created xsi:type="dcterms:W3CDTF">2025-06-17T03:26:47Z</dcterms:created>
  <dcterms:modified xsi:type="dcterms:W3CDTF">2025-06-17T21:28:28Z</dcterms:modified>
</cp:coreProperties>
</file>